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Ручной architecture governance — bottleneck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AGA + Ouroboros · Sber AI Hack</a:t>
            </a:r>
          </a:p>
          <a:p>
            <a:pPr lvl="0" indent="0" marL="0">
              <a:buNone/>
            </a:pPr>
            <a:r>
              <a:rPr/>
              <a:t>Цифры синхронизированы с каноническим </a:t>
            </a:r>
            <a:r>
              <a:rPr>
                <a:latin typeface="Courier"/>
              </a:rPr>
              <a:t>SUBMISSION-FACTS.json</a:t>
            </a:r>
            <a:r>
              <a:rPr/>
              <a:t>.</a:t>
            </a:r>
          </a:p>
          <a:p>
            <a:pPr lvl="0"/>
            <a:r>
              <a:rPr/>
              <a:t>Architecture-as-Code PR нужно сверять с SEAF, ADR, диаграммами и принципами.</a:t>
            </a:r>
          </a:p>
          <a:p>
            <a:pPr lvl="0"/>
            <a:r>
              <a:rPr/>
              <a:t>Ручной review создаёт очередь и неодинаковое качество комментариев.</a:t>
            </a:r>
          </a:p>
          <a:p>
            <a:pPr lvl="0"/>
            <a:r>
              <a:rPr/>
              <a:t>Proposal-сценарий: </a:t>
            </a:r>
            <a:r>
              <a:rPr b="1"/>
              <a:t>25 ч/нед</a:t>
            </a:r>
            <a:r>
              <a:rPr/>
              <a:t> на блок; это гипотеза, не production-замер.</a:t>
            </a:r>
          </a:p>
          <a:p>
            <a:pPr lvl="0" indent="0" marL="0">
              <a:buNone/>
            </a:pPr>
            <a:r>
              <a:rPr b="1"/>
              <a:t>Вывод:</a:t>
            </a:r>
            <a:r>
              <a:rPr/>
              <a:t> рутинную проверку нужно автоматизировать, сохранив решение за архитектором.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AGA превращает review в проверяемый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immutable Git base/head
        ↓
trusted snapshot + guardrails
        ↓
semantic review + exact evidence
        ↓
advisory verdict → HITL</a:t>
            </a:r>
          </a:p>
          <a:p>
            <a:pPr lvl="0"/>
            <a:r>
              <a:rPr/>
              <a:t>Severity, artifact, JSON Pointer, evidence и source reference.</a:t>
            </a:r>
          </a:p>
          <a:p>
            <a:pPr lvl="0"/>
            <a:r>
              <a:rPr/>
              <a:t>Missing context или ошибка дают </a:t>
            </a:r>
            <a:r>
              <a:rPr>
                <a:latin typeface="Courier"/>
              </a:rPr>
              <a:t>incomplete</a:t>
            </a:r>
            <a:r>
              <a:rPr/>
              <a:t>, а не optimistic approve.</a:t>
            </a:r>
          </a:p>
          <a:p>
            <a:pPr lvl="0"/>
            <a:r>
              <a:rPr>
                <a:latin typeface="Courier"/>
              </a:rPr>
              <a:t>auto_merge=false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Ouroboros замыкает self-evolution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Три реальные controlled задачи: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2c3b23ff</a:t>
            </a:r>
            <a:r>
              <a:rPr/>
              <a:t> — review: найден blocker </a:t>
            </a:r>
            <a:r>
              <a:rPr>
                <a:latin typeface="Courier"/>
              </a:rPr>
              <a:t>SEAF-004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bfd18932</a:t>
            </a:r>
            <a:r>
              <a:rPr/>
              <a:t> — remediation: минимальный candidate patch.</a:t>
            </a:r>
          </a:p>
          <a:p>
            <a:pPr lvl="0" indent="-342900" marL="342900">
              <a:buAutoNum type="arabicPeriod"/>
            </a:pPr>
            <a:r>
              <a:rPr>
                <a:latin typeface="Courier"/>
              </a:rPr>
              <a:t>49c3a905</a:t>
            </a:r>
            <a:r>
              <a:rPr/>
              <a:t> — re-review: целевой finding закрыт.</a:t>
            </a:r>
          </a:p>
          <a:p>
            <a:pPr lvl="0"/>
            <a:r>
              <a:rPr/>
              <a:t>Только AGA MCP tools и </a:t>
            </a:r>
            <a:r>
              <a:rPr>
                <a:latin typeface="Courier"/>
              </a:rPr>
              <a:t>synthetic-public</a:t>
            </a:r>
            <a:r>
              <a:rPr/>
              <a:t> evidence.</a:t>
            </a:r>
          </a:p>
          <a:p>
            <a:pPr lvl="0"/>
            <a:r>
              <a:rPr/>
              <a:t>Retained cost: </a:t>
            </a:r>
            <a:r>
              <a:rPr b="1"/>
              <a:t>0.113183 USD</a:t>
            </a:r>
            <a:r>
              <a:rPr/>
              <a:t>.</a:t>
            </a:r>
          </a:p>
          <a:p>
            <a:pPr lvl="0"/>
            <a:r>
              <a:rPr/>
              <a:t>Это доказательство E2E, не broad quality release.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Trusted boundary ограничивает автономность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Ouroboros                    Trusted host
   │                             │
   └──── AGA MCP schema ─────────┤
         bounded evidence        ├─ immutable Git revisions
         receipts                ├─ evidence validation
                                 └─ candidate-only patch</a:t>
            </a:r>
          </a:p>
          <a:p>
            <a:pPr lvl="0"/>
            <a:r>
              <a:rPr/>
              <a:t>Модель не получает произвольный filesystem path или credentials.</a:t>
            </a:r>
          </a:p>
          <a:p>
            <a:pPr lvl="0"/>
            <a:r>
              <a:rPr/>
              <a:t>Агент не может push, repository-approve или merge.</a:t>
            </a:r>
          </a:p>
          <a:p>
            <a:pPr lvl="0"/>
            <a:r>
              <a:rPr/>
              <a:t>Blocker/major всегда требуют человека.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Полный Demo E2E: две ветки, один gate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11 nodes / 9 flows → review → remediation → re-review ─┐
                                                       ├→ 5 checks → HITL
precedent → rule candidate → 26× baseline/candidate ──┘</a:t>
            </a:r>
          </a:p>
          <a:p>
            <a:pPr lvl="0"/>
            <a:r>
              <a:rPr>
                <a:latin typeface="Courier"/>
              </a:rPr>
              <a:t>demo.legacy_scoring → demo.scoring_v2</a:t>
            </a:r>
            <a:r>
              <a:rPr/>
              <a:t> — одна строка.</a:t>
            </a:r>
          </a:p>
          <a:p>
            <a:pPr lvl="0"/>
            <a:r>
              <a:rPr>
                <a:latin typeface="Courier"/>
              </a:rPr>
              <a:t>pr-15</a:t>
            </a:r>
            <a:r>
              <a:rPr/>
              <a:t> исправлен; negative control </a:t>
            </a:r>
            <a:r>
              <a:rPr>
                <a:latin typeface="Courier"/>
              </a:rPr>
              <a:t>pr-16</a:t>
            </a:r>
            <a:r>
              <a:rPr/>
              <a:t> сохранён.</a:t>
            </a:r>
          </a:p>
          <a:p>
            <a:pPr lvl="0"/>
            <a:r>
              <a:rPr/>
              <a:t>Gate проверяет workspace, closure, outcomes, regressions и strict improvement.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 измерим — границы не смешаны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800"/>
                <a:gridCol w="3289300"/>
                <a:gridCol w="2463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Measurement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Результат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Честный вывод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Rule fitness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25/26 → </a:t>
                      </a:r>
                      <a:r>
                        <a:rPr b="1"/>
                        <a:t>26/26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Узкая mutation без регрессии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Controlled live E2E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 tasks, gate PASS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Ouroboros/MCP loop работает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Fixture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16/16, non-release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Scorer и plumbing работают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Historical semantic freeze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 b="1"/>
                        <a:t>10/16</a:t>
                      </a:r>
                      <a:r>
                        <a:rPr/>
                        <a:t>, unsafe approve 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Release gate FAIL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Safety/HITL — часть продукта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Conservative approve: только complete rules + valid evidence + resolved context.</a:t>
            </a:r>
          </a:p>
          <a:p>
            <a:pPr lvl="0"/>
            <a:r>
              <a:rPr/>
              <a:t>Prompt/artifact text разделены на trusted instruction и untrusted data.</a:t>
            </a:r>
          </a:p>
          <a:p>
            <a:pPr lvl="0"/>
            <a:r>
              <a:rPr/>
              <a:t>Remediation ограничен </a:t>
            </a:r>
            <a:r>
              <a:rPr>
                <a:latin typeface="Courier"/>
              </a:rPr>
              <a:t>SEAF-004</a:t>
            </a:r>
            <a:r>
              <a:rPr/>
              <a:t> и explicit </a:t>
            </a:r>
            <a:r>
              <a:rPr>
                <a:latin typeface="Courier"/>
              </a:rPr>
              <a:t>replaced_by</a:t>
            </a:r>
            <a:r>
              <a:rPr/>
              <a:t>.</a:t>
            </a:r>
          </a:p>
          <a:p>
            <a:pPr lvl="0"/>
            <a:r>
              <a:rPr/>
              <a:t>Candidate остаётся локальным; </a:t>
            </a:r>
            <a:r>
              <a:rPr>
                <a:latin typeface="Courier"/>
              </a:rPr>
              <a:t>human_review_required=true</a:t>
            </a:r>
            <a:r>
              <a:rPr/>
              <a:t>.</a:t>
            </a:r>
          </a:p>
          <a:p>
            <a:pPr lvl="0"/>
            <a:r>
              <a:rPr/>
              <a:t>Старый раскрытый holdout нельзя повторно использовать для release claim.</a:t>
            </a:r>
          </a:p>
          <a:p>
            <a:pPr lvl="0" indent="0" marL="0">
              <a:buNone/>
            </a:pPr>
            <a:r>
              <a:rPr b="1"/>
              <a:t>Вывод:</a:t>
            </a:r>
            <a:r>
              <a:rPr/>
              <a:t> система автономна в анализе, но не в необратимом решении.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Ценность подтверждаем пилотом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Proposal-сценарий: </a:t>
            </a:r>
            <a:r>
              <a:rPr b="1"/>
              <a:t>5.35 ч/нед</a:t>
            </a:r>
            <a:r>
              <a:rPr/>
              <a:t> экономии на архитектора.</a:t>
            </a:r>
          </a:p>
          <a:p>
            <a:pPr lvl="0"/>
            <a:r>
              <a:rPr b="1"/>
              <a:t>≈4.1 млн ₽</a:t>
            </a:r>
            <a:r>
              <a:rPr/>
              <a:t> — gross time-value при 48 неделях и 4 000 ₽/ч.</a:t>
            </a:r>
          </a:p>
          <a:p>
            <a:pPr lvl="0"/>
            <a:r>
              <a:rPr b="1"/>
              <a:t>≈15×</a:t>
            </a:r>
            <a:r>
              <a:rPr/>
              <a:t> — gross/model-call cost, не полный ROI.</a:t>
            </a:r>
          </a:p>
          <a:p>
            <a:pPr lvl="0" indent="0" marL="0">
              <a:buNone/>
            </a:pPr>
            <a:r>
              <a:rPr/>
              <a:t>Следующие gates:</a:t>
            </a:r>
          </a:p>
          <a:p>
            <a:pPr lvl="0" indent="-342900" marL="342900">
              <a:buAutoNum type="arabicPeriod"/>
            </a:pPr>
            <a:r>
              <a:rPr/>
              <a:t>48-case development-v2 → human review → 5 стабильных прогонов.</a:t>
            </a:r>
          </a:p>
          <a:p>
            <a:pPr lvl="0" indent="-342900" marL="342900">
              <a:buAutoNum type="arabicPeriod"/>
            </a:pPr>
            <a:r>
              <a:rPr/>
              <a:t>Freeze → один новый untouched holdout.</a:t>
            </a:r>
          </a:p>
          <a:p>
            <a:pPr lvl="0" indent="-342900" marL="342900">
              <a:buAutoNum type="arabicPeriod"/>
            </a:pPr>
            <a:r>
              <a:rPr/>
              <a:t>Public clean clone + видео &lt;3 минут.</a:t>
            </a:r>
          </a:p>
          <a:p>
            <a:pPr lvl="0" indent="-342900" marL="342900">
              <a:buAutoNum type="arabicPeriod"/>
            </a:pPr>
            <a:r>
              <a:rPr/>
              <a:t>Shadow pilot: latency, quality, TCO и ручные overrides.</a:t>
            </a:r>
          </a:p>
          <a:p>
            <a:pPr lvl="0" indent="0" marL="0">
              <a:buNone/>
            </a:pPr>
            <a:r>
              <a:rPr b="1"/>
              <a:t>Advisory MVP работает; release quality и ROI ещё должны быть доказаны.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2026-07-19T21:25:27Z</dcterms:created>
  <dcterms:modified xsi:type="dcterms:W3CDTF">2026-07-19T21:25:27Z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